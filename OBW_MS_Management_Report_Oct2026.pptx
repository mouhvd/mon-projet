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FM maturity</c:v>
                </c:pt>
              </c:strCache>
            </c:strRef>
          </c:tx>
          <c:spPr>
            <a:ln w="28575" cap="flat">
              <a:solidFill>
                <a:srgbClr val="1A2A4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A2A4A"/>
              </a:solidFill>
              <a:ln w="9525" cap="flat">
                <a:solidFill>
                  <a:srgbClr val="1A2A4A"/>
                </a:solidFill>
                <a:prstDash val="solid"/>
                <a:round/>
              </a:ln>
              <a:effectLst/>
            </c:spPr>
          </c:marker>
          <c:cat>
            <c:strRef>
              <c:f>Sheet1!$A$2:$A$50</c:f>
              <c:strCache>
                <c:ptCount val="49"/>
                <c:pt idx="0">
                  <c:v>W44</c:v>
                </c:pt>
                <c:pt idx="1">
                  <c:v>W45</c:v>
                </c:pt>
                <c:pt idx="2">
                  <c:v>W46</c:v>
                </c:pt>
                <c:pt idx="3">
                  <c:v>W47</c:v>
                </c:pt>
                <c:pt idx="4">
                  <c:v>W48</c:v>
                </c:pt>
                <c:pt idx="5">
                  <c:v>W49</c:v>
                </c:pt>
                <c:pt idx="6">
                  <c:v>W50</c:v>
                </c:pt>
                <c:pt idx="7">
                  <c:v>W51</c:v>
                </c:pt>
                <c:pt idx="8">
                  <c:v>W52</c:v>
                </c:pt>
                <c:pt idx="9">
                  <c:v>W01</c:v>
                </c:pt>
                <c:pt idx="10">
                  <c:v>W02</c:v>
                </c:pt>
                <c:pt idx="11">
                  <c:v>W03</c:v>
                </c:pt>
                <c:pt idx="12">
                  <c:v>W04</c:v>
                </c:pt>
                <c:pt idx="13">
                  <c:v>W05</c:v>
                </c:pt>
                <c:pt idx="14">
                  <c:v>W06</c:v>
                </c:pt>
                <c:pt idx="15">
                  <c:v>W07</c:v>
                </c:pt>
                <c:pt idx="16">
                  <c:v>W08</c:v>
                </c:pt>
                <c:pt idx="17">
                  <c:v>W09</c:v>
                </c:pt>
                <c:pt idx="18">
                  <c:v>W10</c:v>
                </c:pt>
                <c:pt idx="19">
                  <c:v>W11</c:v>
                </c:pt>
                <c:pt idx="20">
                  <c:v>W12</c:v>
                </c:pt>
                <c:pt idx="21">
                  <c:v>W13</c:v>
                </c:pt>
                <c:pt idx="22">
                  <c:v>W14</c:v>
                </c:pt>
                <c:pt idx="23">
                  <c:v>W15</c:v>
                </c:pt>
                <c:pt idx="24">
                  <c:v>W16</c:v>
                </c:pt>
                <c:pt idx="25">
                  <c:v>W17</c:v>
                </c:pt>
                <c:pt idx="26">
                  <c:v>W18</c:v>
                </c:pt>
                <c:pt idx="27">
                  <c:v>W19</c:v>
                </c:pt>
                <c:pt idx="28">
                  <c:v>W20</c:v>
                </c:pt>
                <c:pt idx="29">
                  <c:v>W21</c:v>
                </c:pt>
                <c:pt idx="30">
                  <c:v>W22</c:v>
                </c:pt>
                <c:pt idx="31">
                  <c:v>W23</c:v>
                </c:pt>
                <c:pt idx="32">
                  <c:v>W24</c:v>
                </c:pt>
                <c:pt idx="33">
                  <c:v>W25</c:v>
                </c:pt>
                <c:pt idx="34">
                  <c:v>W26</c:v>
                </c:pt>
                <c:pt idx="35">
                  <c:v>W27</c:v>
                </c:pt>
                <c:pt idx="36">
                  <c:v>W28</c:v>
                </c:pt>
                <c:pt idx="37">
                  <c:v>W29</c:v>
                </c:pt>
                <c:pt idx="38">
                  <c:v>W30</c:v>
                </c:pt>
                <c:pt idx="39">
                  <c:v>W31</c:v>
                </c:pt>
                <c:pt idx="40">
                  <c:v>W32</c:v>
                </c:pt>
                <c:pt idx="41">
                  <c:v>W33</c:v>
                </c:pt>
                <c:pt idx="42">
                  <c:v>W34</c:v>
                </c:pt>
                <c:pt idx="43">
                  <c:v>W35</c:v>
                </c:pt>
                <c:pt idx="44">
                  <c:v>W36</c:v>
                </c:pt>
                <c:pt idx="45">
                  <c:v>W37</c:v>
                </c:pt>
                <c:pt idx="46">
                  <c:v>W38</c:v>
                </c:pt>
                <c:pt idx="47">
                  <c:v>W39</c:v>
                </c:pt>
                <c:pt idx="48">
                  <c:v>W40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28.0</c:v>
                </c:pt>
                <c:pt idx="1">
                  <c:v>35.0</c:v>
                </c:pt>
                <c:pt idx="2">
                  <c:v>47.0</c:v>
                </c:pt>
                <c:pt idx="3">
                  <c:v>41.0</c:v>
                </c:pt>
                <c:pt idx="4">
                  <c:v>54.0</c:v>
                </c:pt>
                <c:pt idx="5">
                  <c:v>43.0</c:v>
                </c:pt>
                <c:pt idx="6">
                  <c:v>54.0</c:v>
                </c:pt>
                <c:pt idx="7">
                  <c:v>52.0</c:v>
                </c:pt>
                <c:pt idx="8">
                  <c:v>52.0</c:v>
                </c:pt>
                <c:pt idx="9">
                  <c:v>68.0</c:v>
                </c:pt>
                <c:pt idx="10">
                  <c:v>73.0</c:v>
                </c:pt>
                <c:pt idx="11">
                  <c:v>86.0</c:v>
                </c:pt>
                <c:pt idx="12">
                  <c:v>88.0</c:v>
                </c:pt>
                <c:pt idx="13">
                  <c:v>85.0</c:v>
                </c:pt>
                <c:pt idx="14">
                  <c:v>94.0</c:v>
                </c:pt>
                <c:pt idx="15">
                  <c:v>95.0</c:v>
                </c:pt>
                <c:pt idx="16">
                  <c:v>95.0</c:v>
                </c:pt>
                <c:pt idx="17">
                  <c:v>96.0</c:v>
                </c:pt>
                <c:pt idx="18">
                  <c:v>94.0</c:v>
                </c:pt>
                <c:pt idx="19">
                  <c:v>96.0</c:v>
                </c:pt>
                <c:pt idx="20">
                  <c:v>98.0</c:v>
                </c:pt>
                <c:pt idx="21">
                  <c:v>97.0</c:v>
                </c:pt>
                <c:pt idx="22">
                  <c:v>98.0</c:v>
                </c:pt>
                <c:pt idx="23">
                  <c:v>97.0</c:v>
                </c:pt>
                <c:pt idx="24">
                  <c:v>98.0</c:v>
                </c:pt>
                <c:pt idx="25">
                  <c:v>98.0</c:v>
                </c:pt>
                <c:pt idx="26">
                  <c:v>96.0</c:v>
                </c:pt>
                <c:pt idx="27">
                  <c:v>97.0</c:v>
                </c:pt>
                <c:pt idx="28">
                  <c:v>97.0</c:v>
                </c:pt>
                <c:pt idx="29">
                  <c:v>98.0</c:v>
                </c:pt>
                <c:pt idx="30">
                  <c:v>98.0</c:v>
                </c:pt>
                <c:pt idx="31">
                  <c:v>97.0</c:v>
                </c:pt>
                <c:pt idx="32">
                  <c:v>96.0</c:v>
                </c:pt>
                <c:pt idx="33">
                  <c:v>97.0</c:v>
                </c:pt>
                <c:pt idx="34">
                  <c:v>94.0</c:v>
                </c:pt>
                <c:pt idx="35">
                  <c:v>95.0</c:v>
                </c:pt>
                <c:pt idx="36">
                  <c:v>97.0</c:v>
                </c:pt>
                <c:pt idx="37">
                  <c:v>97.0</c:v>
                </c:pt>
                <c:pt idx="38">
                  <c:v>97.0</c:v>
                </c:pt>
                <c:pt idx="39">
                  <c:v>96.0</c:v>
                </c:pt>
                <c:pt idx="40">
                  <c:v>98.0</c:v>
                </c:pt>
                <c:pt idx="41">
                  <c:v>97.0</c:v>
                </c:pt>
                <c:pt idx="42">
                  <c:v>88.0</c:v>
                </c:pt>
                <c:pt idx="43">
                  <c:v>95.0</c:v>
                </c:pt>
                <c:pt idx="44">
                  <c:v>88.0</c:v>
                </c:pt>
                <c:pt idx="45">
                  <c:v>93.0</c:v>
                </c:pt>
                <c:pt idx="46">
                  <c:v>91.0</c:v>
                </c:pt>
                <c:pt idx="47">
                  <c:v>95.0</c:v>
                </c:pt>
                <c:pt idx="48">
                  <c:v>96.0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A3-4BEF-8AE1-F715B3C12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4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noMultiLvlLbl val="1"/>
      </c:catAx>
      <c:valAx>
        <c:axId val="2094734552"/>
        <c:scaling>
          <c:orientation val="minMax"/>
          <c:max val="100"/>
          <c:min val="20"/>
        </c:scaling>
        <c:delete val="0"/>
        <c:axPos val="l"/>
        <c:majorGridlines>
          <c:spPr>
            <a:ln w="9525" cap="flat">
              <a:solidFill>
                <a:srgbClr val="E9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09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chart" Target="../charts/chart1.xml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MANAGEMENT REPORT  |  ORANGE BOTSWANA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and Customer Complaint Performance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2026, month to date (1 to 11 Oct)  |  RAN and Core domains</a:t>
            </a:r>
            <a:endParaRPr lang="en-US" sz="1200" dirty="0"/>
          </a:p>
        </p:txBody>
      </p:sp>
      <p:pic>
        <p:nvPicPr>
          <p:cNvPr id="5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66928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746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298448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handled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463  |  Core 8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00984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83864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74650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42232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4142232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within SLA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142232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of 471 incidents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44768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27648" y="1618488"/>
            <a:ext cx="512064" cy="51206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17465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86016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6986016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SLA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986016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1  |  Core 0  (P1 and P2: 1)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988552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17465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29800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82980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complaints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9829800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complaint recorded so far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57200" y="2542032"/>
            <a:ext cx="7333488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7200" y="2542032"/>
            <a:ext cx="7333488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58368" y="26883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 |  % TTR WITHIN SLA VS TARGET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40680" y="2734056"/>
            <a:ext cx="201168" cy="914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687568" y="2697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53328" y="2734056"/>
            <a:ext cx="201168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300216" y="2697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6876288" y="2679192"/>
            <a:ext cx="0" cy="201168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949440" y="2697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50" dirty="0"/>
          </a:p>
        </p:txBody>
      </p:sp>
      <p:sp>
        <p:nvSpPr>
          <p:cNvPr id="39" name="Text 32"/>
          <p:cNvSpPr txBox="1"/>
          <p:nvPr/>
        </p:nvSpPr>
        <p:spPr>
          <a:xfrm>
            <a:off x="658368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133856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800" dirty="0"/>
          </a:p>
        </p:txBody>
      </p:sp>
      <p:sp>
        <p:nvSpPr>
          <p:cNvPr id="41" name="Text 34"/>
          <p:cNvSpPr txBox="1"/>
          <p:nvPr/>
        </p:nvSpPr>
        <p:spPr>
          <a:xfrm>
            <a:off x="2029968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TTR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58368" y="3419856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1A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58368" y="34198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44" name="Text 37"/>
          <p:cNvSpPr txBox="1"/>
          <p:nvPr/>
        </p:nvSpPr>
        <p:spPr>
          <a:xfrm>
            <a:off x="1133856" y="3374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1133856" y="35844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out of SLA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2029968" y="3483864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2029968" y="3483864"/>
            <a:ext cx="944927" cy="12801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3418942" y="3419856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3538728" y="33741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3538728" y="358444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98%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658368" y="3822192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3C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658368" y="3822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53" name="Text 46"/>
          <p:cNvSpPr txBox="1"/>
          <p:nvPr/>
        </p:nvSpPr>
        <p:spPr>
          <a:xfrm>
            <a:off x="1133856" y="37764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1133856" y="39867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out of SLA</a:t>
            </a:r>
            <a:endParaRPr lang="en-US" sz="750" dirty="0"/>
          </a:p>
        </p:txBody>
      </p:sp>
      <p:sp>
        <p:nvSpPr>
          <p:cNvPr id="55" name="Shape 48"/>
          <p:cNvSpPr/>
          <p:nvPr/>
        </p:nvSpPr>
        <p:spPr>
          <a:xfrm>
            <a:off x="2029968" y="3886200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2029968" y="3886200"/>
            <a:ext cx="1417320" cy="12801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3376422" y="3822192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3538728" y="3776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00" dirty="0"/>
          </a:p>
        </p:txBody>
      </p:sp>
      <p:sp>
        <p:nvSpPr>
          <p:cNvPr id="59" name="Text 52"/>
          <p:cNvSpPr txBox="1"/>
          <p:nvPr/>
        </p:nvSpPr>
        <p:spPr>
          <a:xfrm>
            <a:off x="3538728" y="39867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95%</a:t>
            </a:r>
            <a:endParaRPr lang="en-US" sz="750" dirty="0"/>
          </a:p>
        </p:txBody>
      </p:sp>
      <p:sp>
        <p:nvSpPr>
          <p:cNvPr id="60" name="Shape 53"/>
          <p:cNvSpPr/>
          <p:nvPr/>
        </p:nvSpPr>
        <p:spPr>
          <a:xfrm>
            <a:off x="658368" y="4224528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8C9B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658368" y="4224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50" dirty="0"/>
          </a:p>
        </p:txBody>
      </p:sp>
      <p:sp>
        <p:nvSpPr>
          <p:cNvPr id="62" name="Text 55"/>
          <p:cNvSpPr txBox="1"/>
          <p:nvPr/>
        </p:nvSpPr>
        <p:spPr>
          <a:xfrm>
            <a:off x="1133856" y="4178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300" dirty="0"/>
          </a:p>
        </p:txBody>
      </p:sp>
      <p:sp>
        <p:nvSpPr>
          <p:cNvPr id="63" name="Text 56"/>
          <p:cNvSpPr txBox="1"/>
          <p:nvPr/>
        </p:nvSpPr>
        <p:spPr>
          <a:xfrm>
            <a:off x="1133856" y="43891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out of SLA</a:t>
            </a:r>
            <a:endParaRPr lang="en-US" sz="750" dirty="0"/>
          </a:p>
        </p:txBody>
      </p:sp>
      <p:sp>
        <p:nvSpPr>
          <p:cNvPr id="64" name="Shape 57"/>
          <p:cNvSpPr/>
          <p:nvPr/>
        </p:nvSpPr>
        <p:spPr>
          <a:xfrm>
            <a:off x="2029968" y="4288536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2029968" y="4288536"/>
            <a:ext cx="1417320" cy="12801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3305556" y="4224528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3538728" y="4178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00" dirty="0"/>
          </a:p>
        </p:txBody>
      </p:sp>
      <p:sp>
        <p:nvSpPr>
          <p:cNvPr id="68" name="Text 61"/>
          <p:cNvSpPr txBox="1"/>
          <p:nvPr/>
        </p:nvSpPr>
        <p:spPr>
          <a:xfrm>
            <a:off x="3538728" y="43891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90%</a:t>
            </a:r>
            <a:endParaRPr lang="en-US" sz="750" dirty="0"/>
          </a:p>
        </p:txBody>
      </p:sp>
      <p:sp>
        <p:nvSpPr>
          <p:cNvPr id="69" name="Shape 62"/>
          <p:cNvSpPr/>
          <p:nvPr/>
        </p:nvSpPr>
        <p:spPr>
          <a:xfrm>
            <a:off x="658368" y="4626864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8C9B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658368" y="4626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50" dirty="0"/>
          </a:p>
        </p:txBody>
      </p:sp>
      <p:sp>
        <p:nvSpPr>
          <p:cNvPr id="71" name="Text 64"/>
          <p:cNvSpPr txBox="1"/>
          <p:nvPr/>
        </p:nvSpPr>
        <p:spPr>
          <a:xfrm>
            <a:off x="1133856" y="4581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</a:t>
            </a:r>
            <a:endParaRPr lang="en-US" sz="1300" dirty="0"/>
          </a:p>
        </p:txBody>
      </p:sp>
      <p:sp>
        <p:nvSpPr>
          <p:cNvPr id="72" name="Text 65"/>
          <p:cNvSpPr txBox="1"/>
          <p:nvPr/>
        </p:nvSpPr>
        <p:spPr>
          <a:xfrm>
            <a:off x="1133856" y="47914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out of SLA</a:t>
            </a:r>
            <a:endParaRPr lang="en-US" sz="750" dirty="0"/>
          </a:p>
        </p:txBody>
      </p:sp>
      <p:sp>
        <p:nvSpPr>
          <p:cNvPr id="73" name="Shape 66"/>
          <p:cNvSpPr/>
          <p:nvPr/>
        </p:nvSpPr>
        <p:spPr>
          <a:xfrm>
            <a:off x="2029968" y="4690872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2029968" y="4690872"/>
            <a:ext cx="1417320" cy="12801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3234690" y="4626864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3538728" y="4581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00" dirty="0"/>
          </a:p>
        </p:txBody>
      </p:sp>
      <p:sp>
        <p:nvSpPr>
          <p:cNvPr id="77" name="Text 70"/>
          <p:cNvSpPr txBox="1"/>
          <p:nvPr/>
        </p:nvSpPr>
        <p:spPr>
          <a:xfrm>
            <a:off x="3538728" y="479145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85%</a:t>
            </a:r>
            <a:endParaRPr lang="en-US" sz="750" dirty="0"/>
          </a:p>
        </p:txBody>
      </p:sp>
      <p:sp>
        <p:nvSpPr>
          <p:cNvPr id="78" name="Text 71"/>
          <p:cNvSpPr txBox="1"/>
          <p:nvPr/>
        </p:nvSpPr>
        <p:spPr>
          <a:xfrm>
            <a:off x="4270248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79" name="Text 72"/>
          <p:cNvSpPr txBox="1"/>
          <p:nvPr/>
        </p:nvSpPr>
        <p:spPr>
          <a:xfrm>
            <a:off x="4745736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800" dirty="0"/>
          </a:p>
        </p:txBody>
      </p:sp>
      <p:sp>
        <p:nvSpPr>
          <p:cNvPr id="80" name="Text 73"/>
          <p:cNvSpPr txBox="1"/>
          <p:nvPr/>
        </p:nvSpPr>
        <p:spPr>
          <a:xfrm>
            <a:off x="5641848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TTR</a:t>
            </a:r>
            <a:endParaRPr lang="en-US" sz="800" dirty="0"/>
          </a:p>
        </p:txBody>
      </p:sp>
      <p:sp>
        <p:nvSpPr>
          <p:cNvPr id="81" name="Shape 74"/>
          <p:cNvSpPr/>
          <p:nvPr/>
        </p:nvSpPr>
        <p:spPr>
          <a:xfrm>
            <a:off x="4270248" y="3419856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1A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4270248" y="34198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83" name="Text 76"/>
          <p:cNvSpPr txBox="1"/>
          <p:nvPr/>
        </p:nvSpPr>
        <p:spPr>
          <a:xfrm>
            <a:off x="4745736" y="3374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84" name="Text 77"/>
          <p:cNvSpPr txBox="1"/>
          <p:nvPr/>
        </p:nvSpPr>
        <p:spPr>
          <a:xfrm>
            <a:off x="4745736" y="35844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ticket</a:t>
            </a:r>
            <a:endParaRPr lang="en-US" sz="750" dirty="0"/>
          </a:p>
        </p:txBody>
      </p:sp>
      <p:sp>
        <p:nvSpPr>
          <p:cNvPr id="85" name="Shape 78"/>
          <p:cNvSpPr/>
          <p:nvPr/>
        </p:nvSpPr>
        <p:spPr>
          <a:xfrm>
            <a:off x="5641848" y="3483864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7030822" y="3419856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88" name="Text 81"/>
          <p:cNvSpPr txBox="1"/>
          <p:nvPr/>
        </p:nvSpPr>
        <p:spPr>
          <a:xfrm>
            <a:off x="7150608" y="33741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C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300" dirty="0"/>
          </a:p>
        </p:txBody>
      </p:sp>
      <p:sp>
        <p:nvSpPr>
          <p:cNvPr id="89" name="Text 82"/>
          <p:cNvSpPr txBox="1"/>
          <p:nvPr/>
        </p:nvSpPr>
        <p:spPr>
          <a:xfrm>
            <a:off x="7150608" y="358444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98%</a:t>
            </a:r>
            <a:endParaRPr lang="en-US" sz="750" dirty="0"/>
          </a:p>
        </p:txBody>
      </p:sp>
      <p:sp>
        <p:nvSpPr>
          <p:cNvPr id="90" name="Shape 83"/>
          <p:cNvSpPr/>
          <p:nvPr/>
        </p:nvSpPr>
        <p:spPr>
          <a:xfrm>
            <a:off x="4270248" y="3822192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3C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4270248" y="3822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92" name="Text 85"/>
          <p:cNvSpPr txBox="1"/>
          <p:nvPr/>
        </p:nvSpPr>
        <p:spPr>
          <a:xfrm>
            <a:off x="4745736" y="37764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93" name="Text 86"/>
          <p:cNvSpPr txBox="1"/>
          <p:nvPr/>
        </p:nvSpPr>
        <p:spPr>
          <a:xfrm>
            <a:off x="4745736" y="39867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out of SLA</a:t>
            </a:r>
            <a:endParaRPr lang="en-US" sz="750" dirty="0"/>
          </a:p>
        </p:txBody>
      </p:sp>
      <p:sp>
        <p:nvSpPr>
          <p:cNvPr id="94" name="Shape 87"/>
          <p:cNvSpPr/>
          <p:nvPr/>
        </p:nvSpPr>
        <p:spPr>
          <a:xfrm>
            <a:off x="5641848" y="3886200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5641848" y="3886200"/>
            <a:ext cx="1417320" cy="12801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6988302" y="3822192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97" name="Text 90"/>
          <p:cNvSpPr txBox="1"/>
          <p:nvPr/>
        </p:nvSpPr>
        <p:spPr>
          <a:xfrm>
            <a:off x="7150608" y="3776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00" dirty="0"/>
          </a:p>
        </p:txBody>
      </p:sp>
      <p:sp>
        <p:nvSpPr>
          <p:cNvPr id="98" name="Text 91"/>
          <p:cNvSpPr txBox="1"/>
          <p:nvPr/>
        </p:nvSpPr>
        <p:spPr>
          <a:xfrm>
            <a:off x="7150608" y="39867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95%</a:t>
            </a:r>
            <a:endParaRPr lang="en-US" sz="750" dirty="0"/>
          </a:p>
        </p:txBody>
      </p:sp>
      <p:sp>
        <p:nvSpPr>
          <p:cNvPr id="99" name="Shape 92"/>
          <p:cNvSpPr/>
          <p:nvPr/>
        </p:nvSpPr>
        <p:spPr>
          <a:xfrm>
            <a:off x="4270248" y="4224528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8C9B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3"/>
          <p:cNvSpPr txBox="1"/>
          <p:nvPr/>
        </p:nvSpPr>
        <p:spPr>
          <a:xfrm>
            <a:off x="4270248" y="4224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50" dirty="0"/>
          </a:p>
        </p:txBody>
      </p:sp>
      <p:sp>
        <p:nvSpPr>
          <p:cNvPr id="101" name="Text 94"/>
          <p:cNvSpPr txBox="1"/>
          <p:nvPr/>
        </p:nvSpPr>
        <p:spPr>
          <a:xfrm>
            <a:off x="4745736" y="4178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2" name="Text 95"/>
          <p:cNvSpPr txBox="1"/>
          <p:nvPr/>
        </p:nvSpPr>
        <p:spPr>
          <a:xfrm>
            <a:off x="4745736" y="43891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out of SLA</a:t>
            </a:r>
            <a:endParaRPr lang="en-US" sz="750" dirty="0"/>
          </a:p>
        </p:txBody>
      </p:sp>
      <p:sp>
        <p:nvSpPr>
          <p:cNvPr id="103" name="Shape 96"/>
          <p:cNvSpPr/>
          <p:nvPr/>
        </p:nvSpPr>
        <p:spPr>
          <a:xfrm>
            <a:off x="5641848" y="4288536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5641848" y="4288536"/>
            <a:ext cx="1417320" cy="12801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6917436" y="4224528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106" name="Text 99"/>
          <p:cNvSpPr txBox="1"/>
          <p:nvPr/>
        </p:nvSpPr>
        <p:spPr>
          <a:xfrm>
            <a:off x="7150608" y="4178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00" dirty="0"/>
          </a:p>
        </p:txBody>
      </p:sp>
      <p:sp>
        <p:nvSpPr>
          <p:cNvPr id="107" name="Text 100"/>
          <p:cNvSpPr txBox="1"/>
          <p:nvPr/>
        </p:nvSpPr>
        <p:spPr>
          <a:xfrm>
            <a:off x="7150608" y="43891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90%</a:t>
            </a:r>
            <a:endParaRPr lang="en-US" sz="750" dirty="0"/>
          </a:p>
        </p:txBody>
      </p:sp>
      <p:sp>
        <p:nvSpPr>
          <p:cNvPr id="108" name="Shape 101"/>
          <p:cNvSpPr/>
          <p:nvPr/>
        </p:nvSpPr>
        <p:spPr>
          <a:xfrm>
            <a:off x="4270248" y="4626864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8C9B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Text 102"/>
          <p:cNvSpPr txBox="1"/>
          <p:nvPr/>
        </p:nvSpPr>
        <p:spPr>
          <a:xfrm>
            <a:off x="4270248" y="4626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50" dirty="0"/>
          </a:p>
        </p:txBody>
      </p:sp>
      <p:sp>
        <p:nvSpPr>
          <p:cNvPr id="110" name="Text 103"/>
          <p:cNvSpPr txBox="1"/>
          <p:nvPr/>
        </p:nvSpPr>
        <p:spPr>
          <a:xfrm>
            <a:off x="4745736" y="4581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1" name="Text 104"/>
          <p:cNvSpPr txBox="1"/>
          <p:nvPr/>
        </p:nvSpPr>
        <p:spPr>
          <a:xfrm>
            <a:off x="4745736" y="47914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out of SLA</a:t>
            </a:r>
            <a:endParaRPr lang="en-US" sz="750" dirty="0"/>
          </a:p>
        </p:txBody>
      </p:sp>
      <p:sp>
        <p:nvSpPr>
          <p:cNvPr id="112" name="Shape 105"/>
          <p:cNvSpPr/>
          <p:nvPr/>
        </p:nvSpPr>
        <p:spPr>
          <a:xfrm>
            <a:off x="5641848" y="4690872"/>
            <a:ext cx="1417320" cy="128016"/>
          </a:xfrm>
          <a:prstGeom prst="rect">
            <a:avLst/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5641848" y="4690872"/>
            <a:ext cx="1417320" cy="12801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6846570" y="4626864"/>
            <a:ext cx="0" cy="256032"/>
          </a:xfrm>
          <a:prstGeom prst="line">
            <a:avLst/>
          </a:prstGeom>
          <a:noFill/>
          <a:ln w="25400">
            <a:solidFill>
              <a:srgbClr val="1A2A4A"/>
            </a:solidFill>
            <a:prstDash val="solid"/>
          </a:ln>
        </p:spPr>
      </p:sp>
      <p:sp>
        <p:nvSpPr>
          <p:cNvPr id="114" name="Text 107"/>
          <p:cNvSpPr txBox="1"/>
          <p:nvPr/>
        </p:nvSpPr>
        <p:spPr>
          <a:xfrm>
            <a:off x="7150608" y="4581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00" dirty="0"/>
          </a:p>
        </p:txBody>
      </p:sp>
      <p:sp>
        <p:nvSpPr>
          <p:cNvPr id="115" name="Text 108"/>
          <p:cNvSpPr txBox="1"/>
          <p:nvPr/>
        </p:nvSpPr>
        <p:spPr>
          <a:xfrm>
            <a:off x="7150608" y="479145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85%</a:t>
            </a:r>
            <a:endParaRPr lang="en-US" sz="750" dirty="0"/>
          </a:p>
        </p:txBody>
      </p:sp>
      <p:sp>
        <p:nvSpPr>
          <p:cNvPr id="116" name="Shape 109"/>
          <p:cNvSpPr/>
          <p:nvPr/>
        </p:nvSpPr>
        <p:spPr>
          <a:xfrm>
            <a:off x="4133088" y="3090672"/>
            <a:ext cx="0" cy="1783080"/>
          </a:xfrm>
          <a:prstGeom prst="line">
            <a:avLst/>
          </a:prstGeom>
          <a:noFill/>
          <a:ln w="12700">
            <a:solidFill>
              <a:srgbClr val="DDE2EA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7982712" y="2542032"/>
            <a:ext cx="3749040" cy="2487168"/>
          </a:xfrm>
          <a:prstGeom prst="roundRect">
            <a:avLst>
              <a:gd name="adj" fmla="val 2941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8" name="Text 111"/>
          <p:cNvSpPr txBox="1"/>
          <p:nvPr/>
        </p:nvSpPr>
        <p:spPr>
          <a:xfrm>
            <a:off x="8211312" y="2688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COMPLAINTS</a:t>
            </a:r>
            <a:endParaRPr lang="en-US" sz="1050" dirty="0"/>
          </a:p>
        </p:txBody>
      </p:sp>
      <p:sp>
        <p:nvSpPr>
          <p:cNvPr id="119" name="Text 112"/>
          <p:cNvSpPr txBox="1"/>
          <p:nvPr/>
        </p:nvSpPr>
        <p:spPr>
          <a:xfrm>
            <a:off x="8211312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20" name="Text 113"/>
          <p:cNvSpPr txBox="1"/>
          <p:nvPr/>
        </p:nvSpPr>
        <p:spPr>
          <a:xfrm>
            <a:off x="9811512" y="30449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complaints, 1 to 11 Oct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95%, zero ongoing</a:t>
            </a:r>
            <a:endParaRPr lang="en-US" sz="950" dirty="0"/>
          </a:p>
        </p:txBody>
      </p:sp>
      <p:sp>
        <p:nvSpPr>
          <p:cNvPr id="121" name="Text 114"/>
          <p:cNvSpPr txBox="1"/>
          <p:nvPr/>
        </p:nvSpPr>
        <p:spPr>
          <a:xfrm>
            <a:off x="8211312" y="37033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</a:t>
            </a:r>
            <a:endParaRPr lang="en-US" sz="1000" dirty="0"/>
          </a:p>
        </p:txBody>
      </p:sp>
      <p:sp>
        <p:nvSpPr>
          <p:cNvPr id="124" name="Shape 117"/>
          <p:cNvSpPr/>
          <p:nvPr/>
        </p:nvSpPr>
        <p:spPr>
          <a:xfrm>
            <a:off x="8787384" y="3703320"/>
            <a:ext cx="2331720" cy="237744"/>
          </a:xfrm>
          <a:prstGeom prst="rect">
            <a:avLst/>
          </a:prstGeom>
          <a:solidFill>
            <a:srgbClr val="2E406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5" name="Text 118"/>
          <p:cNvSpPr txBox="1"/>
          <p:nvPr/>
        </p:nvSpPr>
        <p:spPr>
          <a:xfrm>
            <a:off x="8787384" y="3703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complaint</a:t>
            </a:r>
            <a:endParaRPr lang="en-US" sz="900" dirty="0"/>
          </a:p>
        </p:txBody>
      </p:sp>
      <p:sp>
        <p:nvSpPr>
          <p:cNvPr id="126" name="Text 119"/>
          <p:cNvSpPr txBox="1"/>
          <p:nvPr/>
        </p:nvSpPr>
        <p:spPr>
          <a:xfrm>
            <a:off x="11155680" y="3703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27" name="Text 120"/>
          <p:cNvSpPr txBox="1"/>
          <p:nvPr/>
        </p:nvSpPr>
        <p:spPr>
          <a:xfrm>
            <a:off x="8211312" y="4123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132" name="Shape 125"/>
          <p:cNvSpPr/>
          <p:nvPr/>
        </p:nvSpPr>
        <p:spPr>
          <a:xfrm>
            <a:off x="8787384" y="4123944"/>
            <a:ext cx="2331720" cy="237744"/>
          </a:xfrm>
          <a:prstGeom prst="rect">
            <a:avLst/>
          </a:prstGeom>
          <a:solidFill>
            <a:srgbClr val="2E406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33" name="Text 126"/>
          <p:cNvSpPr txBox="1"/>
          <p:nvPr/>
        </p:nvSpPr>
        <p:spPr>
          <a:xfrm>
            <a:off x="8787384" y="41239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complaint</a:t>
            </a:r>
            <a:endParaRPr lang="en-US" sz="900" dirty="0"/>
          </a:p>
        </p:txBody>
      </p:sp>
      <p:sp>
        <p:nvSpPr>
          <p:cNvPr id="134" name="Text 127"/>
          <p:cNvSpPr txBox="1"/>
          <p:nvPr/>
        </p:nvSpPr>
        <p:spPr>
          <a:xfrm>
            <a:off x="11155680" y="412394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pic>
        <p:nvPicPr>
          <p:cNvPr id="1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4764024"/>
            <a:ext cx="155448" cy="155448"/>
          </a:xfrm>
          <a:prstGeom prst="rect">
            <a:avLst/>
          </a:prstGeom>
        </p:spPr>
      </p:pic>
      <p:sp>
        <p:nvSpPr>
          <p:cNvPr id="142" name="Text 134"/>
          <p:cNvSpPr txBox="1"/>
          <p:nvPr/>
        </p:nvSpPr>
        <p:spPr>
          <a:xfrm>
            <a:off x="8439912" y="4754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OCEANE platform malfunction: complaints handled by email</a:t>
            </a:r>
            <a:endParaRPr lang="en-US" sz="850" dirty="0"/>
          </a:p>
        </p:txBody>
      </p:sp>
      <p:sp>
        <p:nvSpPr>
          <p:cNvPr id="143" name="Shape 135"/>
          <p:cNvSpPr/>
          <p:nvPr/>
        </p:nvSpPr>
        <p:spPr>
          <a:xfrm>
            <a:off x="457200" y="52120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4" name="Text 136"/>
          <p:cNvSpPr txBox="1"/>
          <p:nvPr/>
        </p:nvSpPr>
        <p:spPr>
          <a:xfrm>
            <a:off x="640080" y="5340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VOLUME VS 2025 (YTD W41)</a:t>
            </a:r>
            <a:endParaRPr lang="en-US" sz="950" dirty="0"/>
          </a:p>
        </p:txBody>
      </p:sp>
      <p:pic>
        <p:nvPicPr>
          <p:cNvPr id="1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5669280"/>
            <a:ext cx="146304" cy="146304"/>
          </a:xfrm>
          <a:prstGeom prst="rect">
            <a:avLst/>
          </a:prstGeom>
        </p:spPr>
      </p:pic>
      <p:sp>
        <p:nvSpPr>
          <p:cNvPr id="146" name="Text 137"/>
          <p:cNvSpPr txBox="1"/>
          <p:nvPr/>
        </p:nvSpPr>
        <p:spPr>
          <a:xfrm>
            <a:off x="822960" y="5623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-51%</a:t>
            </a:r>
            <a:endParaRPr lang="en-US" sz="1300" dirty="0"/>
          </a:p>
        </p:txBody>
      </p:sp>
      <p:sp>
        <p:nvSpPr>
          <p:cNvPr id="147" name="Text 138"/>
          <p:cNvSpPr txBox="1"/>
          <p:nvPr/>
        </p:nvSpPr>
        <p:spPr>
          <a:xfrm>
            <a:off x="137160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P1</a:t>
            </a:r>
            <a:endParaRPr lang="en-US" sz="800" dirty="0"/>
          </a:p>
        </p:txBody>
      </p:sp>
      <p:pic>
        <p:nvPicPr>
          <p:cNvPr id="14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4520" y="5669280"/>
            <a:ext cx="146304" cy="146304"/>
          </a:xfrm>
          <a:prstGeom prst="rect">
            <a:avLst/>
          </a:prstGeom>
        </p:spPr>
      </p:pic>
      <p:sp>
        <p:nvSpPr>
          <p:cNvPr id="149" name="Text 139"/>
          <p:cNvSpPr txBox="1"/>
          <p:nvPr/>
        </p:nvSpPr>
        <p:spPr>
          <a:xfrm>
            <a:off x="2057400" y="5623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-64%</a:t>
            </a:r>
            <a:endParaRPr lang="en-US" sz="1300" dirty="0"/>
          </a:p>
        </p:txBody>
      </p:sp>
      <p:sp>
        <p:nvSpPr>
          <p:cNvPr id="150" name="Text 140"/>
          <p:cNvSpPr txBox="1"/>
          <p:nvPr/>
        </p:nvSpPr>
        <p:spPr>
          <a:xfrm>
            <a:off x="260604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P2</a:t>
            </a:r>
            <a:endParaRPr lang="en-US" sz="800" dirty="0"/>
          </a:p>
        </p:txBody>
      </p:sp>
      <p:pic>
        <p:nvPicPr>
          <p:cNvPr id="15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960" y="5669280"/>
            <a:ext cx="146304" cy="146304"/>
          </a:xfrm>
          <a:prstGeom prst="rect">
            <a:avLst/>
          </a:prstGeom>
        </p:spPr>
      </p:pic>
      <p:sp>
        <p:nvSpPr>
          <p:cNvPr id="152" name="Text 141"/>
          <p:cNvSpPr txBox="1"/>
          <p:nvPr/>
        </p:nvSpPr>
        <p:spPr>
          <a:xfrm>
            <a:off x="3291840" y="5623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-49%</a:t>
            </a:r>
            <a:endParaRPr lang="en-US" sz="1300" dirty="0"/>
          </a:p>
        </p:txBody>
      </p:sp>
      <p:sp>
        <p:nvSpPr>
          <p:cNvPr id="153" name="Text 142"/>
          <p:cNvSpPr txBox="1"/>
          <p:nvPr/>
        </p:nvSpPr>
        <p:spPr>
          <a:xfrm>
            <a:off x="3840480" y="5669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P3</a:t>
            </a:r>
            <a:endParaRPr lang="en-US" sz="800" dirty="0"/>
          </a:p>
        </p:txBody>
      </p:sp>
      <p:pic>
        <p:nvPicPr>
          <p:cNvPr id="15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053328"/>
            <a:ext cx="146304" cy="146304"/>
          </a:xfrm>
          <a:prstGeom prst="rect">
            <a:avLst/>
          </a:prstGeom>
        </p:spPr>
      </p:pic>
      <p:sp>
        <p:nvSpPr>
          <p:cNvPr id="155" name="Text 143"/>
          <p:cNvSpPr txBox="1"/>
          <p:nvPr/>
        </p:nvSpPr>
        <p:spPr>
          <a:xfrm>
            <a:off x="822960" y="60076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-43%</a:t>
            </a:r>
            <a:endParaRPr lang="en-US" sz="1300" dirty="0"/>
          </a:p>
        </p:txBody>
      </p:sp>
      <p:sp>
        <p:nvSpPr>
          <p:cNvPr id="156" name="Text 144"/>
          <p:cNvSpPr txBox="1"/>
          <p:nvPr/>
        </p:nvSpPr>
        <p:spPr>
          <a:xfrm>
            <a:off x="1371600" y="6053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P1</a:t>
            </a:r>
            <a:endParaRPr lang="en-US" sz="800" dirty="0"/>
          </a:p>
        </p:txBody>
      </p:sp>
      <p:pic>
        <p:nvPicPr>
          <p:cNvPr id="15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4520" y="6053328"/>
            <a:ext cx="146304" cy="146304"/>
          </a:xfrm>
          <a:prstGeom prst="rect">
            <a:avLst/>
          </a:prstGeom>
        </p:spPr>
      </p:pic>
      <p:sp>
        <p:nvSpPr>
          <p:cNvPr id="158" name="Text 145"/>
          <p:cNvSpPr txBox="1"/>
          <p:nvPr/>
        </p:nvSpPr>
        <p:spPr>
          <a:xfrm>
            <a:off x="2057400" y="60076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1300" dirty="0"/>
          </a:p>
        </p:txBody>
      </p:sp>
      <p:sp>
        <p:nvSpPr>
          <p:cNvPr id="159" name="Text 146"/>
          <p:cNvSpPr txBox="1"/>
          <p:nvPr/>
        </p:nvSpPr>
        <p:spPr>
          <a:xfrm>
            <a:off x="2606040" y="6053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P2</a:t>
            </a:r>
            <a:endParaRPr lang="en-US" sz="800" dirty="0"/>
          </a:p>
        </p:txBody>
      </p:sp>
      <p:pic>
        <p:nvPicPr>
          <p:cNvPr id="16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960" y="6053328"/>
            <a:ext cx="146304" cy="146304"/>
          </a:xfrm>
          <a:prstGeom prst="rect">
            <a:avLst/>
          </a:prstGeom>
        </p:spPr>
      </p:pic>
      <p:sp>
        <p:nvSpPr>
          <p:cNvPr id="161" name="Text 147"/>
          <p:cNvSpPr txBox="1"/>
          <p:nvPr/>
        </p:nvSpPr>
        <p:spPr>
          <a:xfrm>
            <a:off x="3291840" y="60076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1300" dirty="0"/>
          </a:p>
        </p:txBody>
      </p:sp>
      <p:sp>
        <p:nvSpPr>
          <p:cNvPr id="162" name="Text 148"/>
          <p:cNvSpPr txBox="1"/>
          <p:nvPr/>
        </p:nvSpPr>
        <p:spPr>
          <a:xfrm>
            <a:off x="3840480" y="6053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P3</a:t>
            </a:r>
            <a:endParaRPr lang="en-US" sz="800" dirty="0"/>
          </a:p>
        </p:txBody>
      </p:sp>
      <p:sp>
        <p:nvSpPr>
          <p:cNvPr id="163" name="Shape 149"/>
          <p:cNvSpPr/>
          <p:nvPr/>
        </p:nvSpPr>
        <p:spPr>
          <a:xfrm>
            <a:off x="4617720" y="5212080"/>
            <a:ext cx="317296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4" name="Text 150"/>
          <p:cNvSpPr txBox="1"/>
          <p:nvPr/>
        </p:nvSpPr>
        <p:spPr>
          <a:xfrm>
            <a:off x="4800600" y="5340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SLA ROOT CAUSES</a:t>
            </a:r>
            <a:endParaRPr lang="en-US" sz="950" dirty="0"/>
          </a:p>
        </p:txBody>
      </p:sp>
      <p:sp>
        <p:nvSpPr>
          <p:cNvPr id="165" name="Shape 151"/>
          <p:cNvSpPr/>
          <p:nvPr/>
        </p:nvSpPr>
        <p:spPr>
          <a:xfrm>
            <a:off x="4800600" y="5632704"/>
            <a:ext cx="877824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6" name="Text 152"/>
          <p:cNvSpPr txBox="1"/>
          <p:nvPr/>
        </p:nvSpPr>
        <p:spPr>
          <a:xfrm>
            <a:off x="5733288" y="5605272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67" name="Text 153"/>
          <p:cNvSpPr txBox="1"/>
          <p:nvPr/>
        </p:nvSpPr>
        <p:spPr>
          <a:xfrm>
            <a:off x="5989320" y="5605272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Bofinet generator fault</a:t>
            </a:r>
            <a:endParaRPr lang="en-US" sz="850" dirty="0"/>
          </a:p>
        </p:txBody>
      </p:sp>
      <p:sp>
        <p:nvSpPr>
          <p:cNvPr id="170" name="Text 156"/>
          <p:cNvSpPr txBox="1"/>
          <p:nvPr/>
        </p:nvSpPr>
        <p:spPr>
          <a:xfrm>
            <a:off x="4800600" y="5792724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RAN, SA100 multi-site down (2G/3G/4G), 2 to 3 Oct: restored in 7h01. Bofinet field engineer out of reach; a replacement came from Maun (+6h ETA).</a:t>
            </a:r>
            <a:endParaRPr lang="en-US" sz="850" dirty="0"/>
          </a:p>
        </p:txBody>
      </p:sp>
      <p:sp>
        <p:nvSpPr>
          <p:cNvPr id="177" name="Shape 163"/>
          <p:cNvSpPr/>
          <p:nvPr/>
        </p:nvSpPr>
        <p:spPr>
          <a:xfrm>
            <a:off x="7982712" y="52120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178" name="Text 164"/>
          <p:cNvSpPr txBox="1"/>
          <p:nvPr/>
        </p:nvSpPr>
        <p:spPr>
          <a:xfrm>
            <a:off x="8183880" y="5340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FOCUS</a:t>
            </a:r>
            <a:endParaRPr lang="en-US" sz="950" dirty="0"/>
          </a:p>
        </p:txBody>
      </p:sp>
      <p:sp>
        <p:nvSpPr>
          <p:cNvPr id="179" name="Text 165"/>
          <p:cNvSpPr txBox="1"/>
          <p:nvPr/>
        </p:nvSpPr>
        <p:spPr>
          <a:xfrm>
            <a:off x="8183880" y="559612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P1 at 66.7% vs 98%: </a:t>
            </a:r>
            <a:r>
              <a:rPr lang="en-US" sz="88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3 P1 failed (SA100, 7h01), Bofinet generator and late FE. October target already lost.</a:t>
            </a:r>
            <a:endParaRPr lang="en-US" sz="88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8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margin left: </a:t>
            </a:r>
            <a:r>
              <a:rPr lang="en-US" sz="88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late ticket misses RAN P2 and Core P2 to P4. Watch Francistown fibre cuts and site GAB72.</a:t>
            </a:r>
            <a:endParaRPr lang="en-US" sz="880" dirty="0"/>
          </a:p>
        </p:txBody>
      </p:sp>
      <p:sp>
        <p:nvSpPr>
          <p:cNvPr id="180" name="Text 166"/>
          <p:cNvSpPr txBox="1"/>
          <p:nvPr/>
        </p:nvSpPr>
        <p:spPr>
          <a:xfrm>
            <a:off x="457200" y="651967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OBW daily KPI follow up (incidents and customer complaints), October 2026 cumulative to 11 Oct. YTD volume compares the same weeks of 2025.</a:t>
            </a:r>
            <a:endParaRPr lang="en-US" sz="850" dirty="0"/>
          </a:p>
        </p:txBody>
      </p:sp>
      <p:sp>
        <p:nvSpPr>
          <p:cNvPr id="181" name="Text 167"/>
          <p:cNvSpPr txBox="1"/>
          <p:nvPr/>
        </p:nvSpPr>
        <p:spPr>
          <a:xfrm>
            <a:off x="8046720" y="651967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GNOC Dakar  |  MS Management Report  | 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MANAGEMENT REPORT  |  ORANGE BOTSWANA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Maturity: Fault Management Automation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FM maturity score for OBW, W44 2025 to W40 2026, and use cases driving the score</a:t>
            </a:r>
            <a:endParaRPr lang="en-US" sz="1200" dirty="0"/>
          </a:p>
        </p:txBody>
      </p:sp>
      <p:pic>
        <p:nvPicPr>
          <p:cNvPr id="5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566928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746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→ 96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298448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maturity progress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 points since W44 2025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00984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83864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74650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42232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4142232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score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142232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weeks at 98, W12 to W32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44768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27648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17465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86016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6986016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average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986016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94 to 98 from W06 to W33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988552" y="1417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1618488"/>
            <a:ext cx="512064" cy="512064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9448" y="17465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29800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82980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score (W40)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9829800" y="2139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above 95 target: 88 in W36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57200" y="2542032"/>
            <a:ext cx="576072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58368" y="2688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MATURITY SCORE, WEEKLY</a:t>
            </a:r>
            <a:endParaRPr lang="en-US" sz="10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548640" y="2926080"/>
          <a:ext cx="5577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3" name="Shape 25"/>
          <p:cNvSpPr/>
          <p:nvPr/>
        </p:nvSpPr>
        <p:spPr>
          <a:xfrm>
            <a:off x="3383280" y="3639312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383280" y="3639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zone 94 to 98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754880" y="395935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754880" y="3959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6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W34 to W38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6400800" y="2542032"/>
            <a:ext cx="533095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583680" y="268833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PULLING THE SCORE DOWN (LAST 5 WEEKS)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953512"/>
          <a:ext cx="5056632" cy="17749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missed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on maturity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 auto dispatching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gap: missed 39 of 40 weeks in 2026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TT creation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8A3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target every week since W35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Alarm compression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8A3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8A3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 under target for 3 weeks (94.1% to 94.5%)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 creation accuracy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8A3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Recovered: 20% in W36, 97.6% in W40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closed TT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74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weight: back to 99.3% after 87.6% in W38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Text 31"/>
          <p:cNvSpPr txBox="1"/>
          <p:nvPr/>
        </p:nvSpPr>
        <p:spPr>
          <a:xfrm>
            <a:off x="6583680" y="4754880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target: WO auto creation, WO auto dispatching, WO dispatch accuracy and auto diagnose</a:t>
            </a:r>
            <a:endParaRPr lang="en-US" sz="780" dirty="0"/>
          </a:p>
        </p:txBody>
      </p:sp>
      <p:sp>
        <p:nvSpPr>
          <p:cNvPr id="41" name="Shape 32"/>
          <p:cNvSpPr/>
          <p:nvPr/>
        </p:nvSpPr>
        <p:spPr>
          <a:xfrm>
            <a:off x="457200" y="521208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58368" y="53400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ADDED ON INCIDENT MANAGEMENT</a:t>
            </a:r>
            <a:endParaRPr lang="en-US" sz="950" dirty="0"/>
          </a:p>
        </p:txBody>
      </p:sp>
      <p:sp>
        <p:nvSpPr>
          <p:cNvPr id="43" name="Text 34"/>
          <p:cNvSpPr txBox="1"/>
          <p:nvPr/>
        </p:nvSpPr>
        <p:spPr>
          <a:xfrm>
            <a:off x="4754880" y="5340096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8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are now created, diagnosed and routed to the field automatically, freeing the NOC to focus on restoration.</a:t>
            </a:r>
            <a:endParaRPr lang="en-US" sz="880" dirty="0"/>
          </a:p>
        </p:txBody>
      </p:sp>
      <p:sp>
        <p:nvSpPr>
          <p:cNvPr id="44" name="Shape 35"/>
          <p:cNvSpPr/>
          <p:nvPr/>
        </p:nvSpPr>
        <p:spPr>
          <a:xfrm>
            <a:off x="658368" y="571500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833872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252728" y="5669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99.9%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1252728" y="59984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 created automatically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2889504" y="571500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8376" y="5833872"/>
            <a:ext cx="237744" cy="237744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3483864" y="5669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100%</a:t>
            </a:r>
            <a:endParaRPr lang="en-US" sz="1600" dirty="0"/>
          </a:p>
        </p:txBody>
      </p:sp>
      <p:sp>
        <p:nvSpPr>
          <p:cNvPr id="51" name="Text 40"/>
          <p:cNvSpPr txBox="1"/>
          <p:nvPr/>
        </p:nvSpPr>
        <p:spPr>
          <a:xfrm>
            <a:off x="3483864" y="59984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 dispatched automatically</a:t>
            </a:r>
            <a:endParaRPr lang="en-US" sz="850" dirty="0"/>
          </a:p>
        </p:txBody>
      </p:sp>
      <p:sp>
        <p:nvSpPr>
          <p:cNvPr id="52" name="Shape 41"/>
          <p:cNvSpPr/>
          <p:nvPr/>
        </p:nvSpPr>
        <p:spPr>
          <a:xfrm>
            <a:off x="5120640" y="571500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9512" y="5833872"/>
            <a:ext cx="237744" cy="237744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5715000" y="5669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→ 94.5%</a:t>
            </a:r>
            <a:endParaRPr lang="en-US" sz="1600" dirty="0"/>
          </a:p>
        </p:txBody>
      </p:sp>
      <p:sp>
        <p:nvSpPr>
          <p:cNvPr id="55" name="Text 43"/>
          <p:cNvSpPr txBox="1"/>
          <p:nvPr/>
        </p:nvSpPr>
        <p:spPr>
          <a:xfrm>
            <a:off x="5715000" y="59984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compression, less noise</a:t>
            </a:r>
            <a:endParaRPr lang="en-US" sz="850" dirty="0"/>
          </a:p>
        </p:txBody>
      </p:sp>
      <p:sp>
        <p:nvSpPr>
          <p:cNvPr id="56" name="Shape 44"/>
          <p:cNvSpPr/>
          <p:nvPr/>
        </p:nvSpPr>
        <p:spPr>
          <a:xfrm>
            <a:off x="7351776" y="571500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70648" y="5833872"/>
            <a:ext cx="237744" cy="237744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7946136" y="5669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59" name="Text 46"/>
          <p:cNvSpPr txBox="1"/>
          <p:nvPr/>
        </p:nvSpPr>
        <p:spPr>
          <a:xfrm>
            <a:off x="7946136" y="59984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auto diagnosed</a:t>
            </a:r>
            <a:endParaRPr lang="en-US" sz="850" dirty="0"/>
          </a:p>
        </p:txBody>
      </p:sp>
      <p:sp>
        <p:nvSpPr>
          <p:cNvPr id="60" name="Shape 47"/>
          <p:cNvSpPr/>
          <p:nvPr/>
        </p:nvSpPr>
        <p:spPr>
          <a:xfrm>
            <a:off x="9582912" y="571500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01784" y="5833872"/>
            <a:ext cx="237744" cy="237744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10177272" y="5669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of 26</a:t>
            </a:r>
            <a:endParaRPr lang="en-US" sz="1600" dirty="0"/>
          </a:p>
        </p:txBody>
      </p:sp>
      <p:sp>
        <p:nvSpPr>
          <p:cNvPr id="63" name="Text 49"/>
          <p:cNvSpPr txBox="1"/>
          <p:nvPr/>
        </p:nvSpPr>
        <p:spPr>
          <a:xfrm>
            <a:off x="10177272" y="59984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recovery scenarios live</a:t>
            </a:r>
            <a:endParaRPr lang="en-US" sz="850" dirty="0"/>
          </a:p>
        </p:txBody>
      </p:sp>
      <p:sp>
        <p:nvSpPr>
          <p:cNvPr id="64" name="Text 50"/>
          <p:cNvSpPr txBox="1"/>
          <p:nvPr/>
        </p:nvSpPr>
        <p:spPr>
          <a:xfrm>
            <a:off x="457200" y="651967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OBW weekly digital KPI achievement (FM maturity and use case rates). Before values from W44 2025. Weights and targets as per the FM maturity model.</a:t>
            </a:r>
            <a:endParaRPr lang="en-US" sz="850" dirty="0"/>
          </a:p>
        </p:txBody>
      </p:sp>
      <p:sp>
        <p:nvSpPr>
          <p:cNvPr id="65" name="Text 51"/>
          <p:cNvSpPr txBox="1"/>
          <p:nvPr/>
        </p:nvSpPr>
        <p:spPr>
          <a:xfrm>
            <a:off x="8046720" y="651967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6B7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GNOC Dakar  |  MS Management Report  |  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685</Words>
  <Application>Microsoft Office PowerPoint</Application>
  <PresentationFormat>Widescreen</PresentationFormat>
  <Paragraphs>181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OBW MS Management Report</dc:title>
  <dc:subject>PptxGenJS Presentation</dc:subject>
  <dc:creator>Huawei GNOC Dakar</dc:creator>
  <cp:lastModifiedBy>GUEYE Simon Charles Demba</cp:lastModifiedBy>
  <cp:revision>1</cp:revision>
  <dcterms:created xsi:type="dcterms:W3CDTF">2026-09-25T14:47:10Z</dcterms:created>
  <dcterms:modified xsi:type="dcterms:W3CDTF">2026-09-25T14:50:53Z</dcterms:modified>
</cp:coreProperties>
</file>